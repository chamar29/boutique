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Agrandir Grand Ultra-Bold" charset="1" panose="00000907000000000000"/>
      <p:regular r:id="rId30"/>
    </p:embeddedFont>
    <p:embeddedFont>
      <p:font typeface="Agrandir Grand Medium" charset="1" panose="00000607000000000000"/>
      <p:regular r:id="rId31"/>
    </p:embeddedFont>
    <p:embeddedFont>
      <p:font typeface="Agrandir Grand Ultra-Bold Italics" charset="1" panose="00000907000000000000"/>
      <p:regular r:id="rId32"/>
    </p:embeddedFont>
    <p:embeddedFont>
      <p:font typeface="TT Drugs" charset="1" panose="02000503060000020003"/>
      <p:regular r:id="rId33"/>
    </p:embeddedFont>
    <p:embeddedFont>
      <p:font typeface="TT Drugs Bold" charset="1" panose="020008030600000200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gif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gif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B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6722" y="2882744"/>
            <a:ext cx="15774557" cy="418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4"/>
              </a:lnSpc>
            </a:pPr>
            <a:r>
              <a:rPr lang="en-US" b="true" sz="11186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BOUTIQUE TIQUE&amp;MAEL FASHION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80999">
            <a:off x="15154304" y="4793557"/>
            <a:ext cx="2480992" cy="3843791"/>
          </a:xfrm>
          <a:custGeom>
            <a:avLst/>
            <a:gdLst/>
            <a:ahLst/>
            <a:cxnLst/>
            <a:rect r="r" b="b" t="t" l="l"/>
            <a:pathLst>
              <a:path h="3843791" w="2480992">
                <a:moveTo>
                  <a:pt x="0" y="0"/>
                </a:moveTo>
                <a:lnTo>
                  <a:pt x="2480992" y="0"/>
                </a:lnTo>
                <a:lnTo>
                  <a:pt x="2480992" y="3843791"/>
                </a:lnTo>
                <a:lnTo>
                  <a:pt x="0" y="3843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6249">
            <a:off x="992247" y="79602"/>
            <a:ext cx="2195926" cy="2648596"/>
          </a:xfrm>
          <a:custGeom>
            <a:avLst/>
            <a:gdLst/>
            <a:ahLst/>
            <a:cxnLst/>
            <a:rect r="r" b="b" t="t" l="l"/>
            <a:pathLst>
              <a:path h="2648596" w="2195926">
                <a:moveTo>
                  <a:pt x="0" y="0"/>
                </a:moveTo>
                <a:lnTo>
                  <a:pt x="2195926" y="0"/>
                </a:lnTo>
                <a:lnTo>
                  <a:pt x="2195926" y="2648596"/>
                </a:lnTo>
                <a:lnTo>
                  <a:pt x="0" y="2648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80560" y="6175453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01527" y="4235730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69178">
            <a:off x="8589559" y="-1594764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4555" y="8119540"/>
            <a:ext cx="8981659" cy="84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b="true" sz="2278" spc="457">
                <a:solidFill>
                  <a:srgbClr val="000000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CANELA FIGUEROA ANGEL DE JESÚS</a:t>
            </a:r>
          </a:p>
          <a:p>
            <a:pPr algn="l">
              <a:lnSpc>
                <a:spcPts val="3189"/>
              </a:lnSpc>
            </a:pPr>
            <a:r>
              <a:rPr lang="en-US" b="true" sz="2278" spc="457">
                <a:solidFill>
                  <a:srgbClr val="000000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CHÁVEZ DÍAZ ISAMAR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44699" y="1047750"/>
            <a:ext cx="5999550" cy="53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75"/>
              </a:lnSpc>
            </a:pPr>
            <a:r>
              <a:rPr lang="en-US" b="true" sz="3650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DOCENTE: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6994" y="1548112"/>
            <a:ext cx="5261116" cy="24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9"/>
              </a:lnSpc>
            </a:pPr>
            <a:r>
              <a:rPr lang="en-US" b="true" sz="1677">
                <a:solidFill>
                  <a:srgbClr val="FFFFFF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LEONARDO MARTINEZ GONZALES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56863"/>
            <a:ext cx="11369071" cy="50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b="true" sz="2556" i="true">
                <a:solidFill>
                  <a:srgbClr val="000000"/>
                </a:solidFill>
                <a:latin typeface="Agrandir Grand Ultra-Bold Italics"/>
                <a:ea typeface="Agrandir Grand Ultra-Bold Italics"/>
                <a:cs typeface="Agrandir Grand Ultra-Bold Italics"/>
                <a:sym typeface="Agrandir Grand Ultra-Bold Italics"/>
              </a:rPr>
              <a:t>PROYECTO DE BASE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6455" y="1918073"/>
            <a:ext cx="7385908" cy="6405596"/>
          </a:xfrm>
          <a:custGeom>
            <a:avLst/>
            <a:gdLst/>
            <a:ahLst/>
            <a:cxnLst/>
            <a:rect r="r" b="b" t="t" l="l"/>
            <a:pathLst>
              <a:path h="6405596" w="7385908">
                <a:moveTo>
                  <a:pt x="0" y="0"/>
                </a:moveTo>
                <a:lnTo>
                  <a:pt x="7385908" y="0"/>
                </a:lnTo>
                <a:lnTo>
                  <a:pt x="7385908" y="6405596"/>
                </a:lnTo>
                <a:lnTo>
                  <a:pt x="0" y="640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76944" y="2147521"/>
            <a:ext cx="5535838" cy="5946700"/>
          </a:xfrm>
          <a:custGeom>
            <a:avLst/>
            <a:gdLst/>
            <a:ahLst/>
            <a:cxnLst/>
            <a:rect r="r" b="b" t="t" l="l"/>
            <a:pathLst>
              <a:path h="5946700" w="5535838">
                <a:moveTo>
                  <a:pt x="0" y="0"/>
                </a:moveTo>
                <a:lnTo>
                  <a:pt x="5535837" y="0"/>
                </a:lnTo>
                <a:lnTo>
                  <a:pt x="5535837" y="5946700"/>
                </a:lnTo>
                <a:lnTo>
                  <a:pt x="0" y="594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634991">
            <a:off x="3447934" y="2423257"/>
            <a:ext cx="2763540" cy="276354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898677">
            <a:off x="14119766" y="2335125"/>
            <a:ext cx="4531553" cy="5571493"/>
          </a:xfrm>
          <a:custGeom>
            <a:avLst/>
            <a:gdLst/>
            <a:ahLst/>
            <a:cxnLst/>
            <a:rect r="r" b="b" t="t" l="l"/>
            <a:pathLst>
              <a:path h="5571493" w="4531553">
                <a:moveTo>
                  <a:pt x="0" y="0"/>
                </a:moveTo>
                <a:lnTo>
                  <a:pt x="4531553" y="0"/>
                </a:lnTo>
                <a:lnTo>
                  <a:pt x="4531553" y="5571493"/>
                </a:lnTo>
                <a:lnTo>
                  <a:pt x="0" y="5571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87565">
            <a:off x="-876235" y="2441220"/>
            <a:ext cx="3385161" cy="5492148"/>
          </a:xfrm>
          <a:custGeom>
            <a:avLst/>
            <a:gdLst/>
            <a:ahLst/>
            <a:cxnLst/>
            <a:rect r="r" b="b" t="t" l="l"/>
            <a:pathLst>
              <a:path h="5492148" w="3385161">
                <a:moveTo>
                  <a:pt x="0" y="0"/>
                </a:moveTo>
                <a:lnTo>
                  <a:pt x="3385160" y="0"/>
                </a:lnTo>
                <a:lnTo>
                  <a:pt x="3385160" y="5492148"/>
                </a:lnTo>
                <a:lnTo>
                  <a:pt x="0" y="5492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88834" y="3505922"/>
            <a:ext cx="2281739" cy="60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4053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12,99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5518" y="625639"/>
            <a:ext cx="10930846" cy="12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b="true" sz="8611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MODELO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78577" y="8621608"/>
            <a:ext cx="10930846" cy="12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b="true" sz="8611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RELACIONAL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4827" y="0"/>
            <a:ext cx="11599333" cy="10287000"/>
          </a:xfrm>
          <a:custGeom>
            <a:avLst/>
            <a:gdLst/>
            <a:ahLst/>
            <a:cxnLst/>
            <a:rect r="r" b="b" t="t" l="l"/>
            <a:pathLst>
              <a:path h="10287000" w="11599333">
                <a:moveTo>
                  <a:pt x="0" y="0"/>
                </a:moveTo>
                <a:lnTo>
                  <a:pt x="11599334" y="0"/>
                </a:lnTo>
                <a:lnTo>
                  <a:pt x="115993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17776" y="2635363"/>
            <a:ext cx="7718072" cy="181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4"/>
              </a:lnSpc>
            </a:pPr>
            <a:r>
              <a:rPr lang="en-US" sz="3432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Están relacionadas con la gestión de los pedidos que se hacen tanto físicamente como en línea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54343" y="0"/>
            <a:ext cx="12430212" cy="10287000"/>
          </a:xfrm>
          <a:custGeom>
            <a:avLst/>
            <a:gdLst/>
            <a:ahLst/>
            <a:cxnLst/>
            <a:rect r="r" b="b" t="t" l="l"/>
            <a:pathLst>
              <a:path h="10287000" w="12430212">
                <a:moveTo>
                  <a:pt x="0" y="0"/>
                </a:moveTo>
                <a:lnTo>
                  <a:pt x="12430211" y="0"/>
                </a:lnTo>
                <a:lnTo>
                  <a:pt x="1243021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9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26078" y="952500"/>
            <a:ext cx="7718072" cy="181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432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 Aquí se gestiona la venta física y en línea, junto con los pagos y los anticipos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D1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5391934" cy="10287000"/>
          </a:xfrm>
          <a:custGeom>
            <a:avLst/>
            <a:gdLst/>
            <a:ahLst/>
            <a:cxnLst/>
            <a:rect r="r" b="b" t="t" l="l"/>
            <a:pathLst>
              <a:path h="10287000" w="5391934">
                <a:moveTo>
                  <a:pt x="0" y="0"/>
                </a:moveTo>
                <a:lnTo>
                  <a:pt x="5391934" y="0"/>
                </a:lnTo>
                <a:lnTo>
                  <a:pt x="53919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5791" y="4196488"/>
            <a:ext cx="7718072" cy="181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432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Están asociadas con el proceso de envío, gestión de guías y reporte de pérdidas.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A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7682" y="0"/>
            <a:ext cx="9564221" cy="10287000"/>
          </a:xfrm>
          <a:custGeom>
            <a:avLst/>
            <a:gdLst/>
            <a:ahLst/>
            <a:cxnLst/>
            <a:rect r="r" b="b" t="t" l="l"/>
            <a:pathLst>
              <a:path h="10287000" w="9564221">
                <a:moveTo>
                  <a:pt x="0" y="0"/>
                </a:moveTo>
                <a:lnTo>
                  <a:pt x="9564221" y="0"/>
                </a:lnTo>
                <a:lnTo>
                  <a:pt x="956422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386" y="3891688"/>
            <a:ext cx="7718072" cy="242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432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 Gestionan el inventario de prendas en la boutique, su relación con las sucursales y las categorías de prendas.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DF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1140" y="-167344"/>
            <a:ext cx="17323010" cy="10454344"/>
          </a:xfrm>
          <a:custGeom>
            <a:avLst/>
            <a:gdLst/>
            <a:ahLst/>
            <a:cxnLst/>
            <a:rect r="r" b="b" t="t" l="l"/>
            <a:pathLst>
              <a:path h="10454344" w="17323010">
                <a:moveTo>
                  <a:pt x="0" y="0"/>
                </a:moveTo>
                <a:lnTo>
                  <a:pt x="17323011" y="0"/>
                </a:lnTo>
                <a:lnTo>
                  <a:pt x="17323011" y="10454344"/>
                </a:lnTo>
                <a:lnTo>
                  <a:pt x="0" y="10454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19348" y="-76200"/>
            <a:ext cx="7718072" cy="181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432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Están relacionadas con la gestión de usuarios del sistema y su rol dentro del negocio.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6195" y="0"/>
            <a:ext cx="12455611" cy="10287000"/>
          </a:xfrm>
          <a:custGeom>
            <a:avLst/>
            <a:gdLst/>
            <a:ahLst/>
            <a:cxnLst/>
            <a:rect r="r" b="b" t="t" l="l"/>
            <a:pathLst>
              <a:path h="10287000" w="12455611">
                <a:moveTo>
                  <a:pt x="0" y="0"/>
                </a:moveTo>
                <a:lnTo>
                  <a:pt x="12455610" y="0"/>
                </a:lnTo>
                <a:lnTo>
                  <a:pt x="124556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2920" y="8311288"/>
            <a:ext cx="7718072" cy="181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432">
                <a:solidFill>
                  <a:srgbClr val="000000"/>
                </a:solidFill>
                <a:latin typeface="TT Drugs"/>
                <a:ea typeface="TT Drugs"/>
                <a:cs typeface="TT Drugs"/>
                <a:sym typeface="TT Drugs"/>
              </a:rPr>
              <a:t>Están enfocadas en la gestión de clientes, incluyendo quejas y preferencias de contacto. 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6455" y="1918073"/>
            <a:ext cx="7385908" cy="6405596"/>
          </a:xfrm>
          <a:custGeom>
            <a:avLst/>
            <a:gdLst/>
            <a:ahLst/>
            <a:cxnLst/>
            <a:rect r="r" b="b" t="t" l="l"/>
            <a:pathLst>
              <a:path h="6405596" w="7385908">
                <a:moveTo>
                  <a:pt x="0" y="0"/>
                </a:moveTo>
                <a:lnTo>
                  <a:pt x="7385908" y="0"/>
                </a:lnTo>
                <a:lnTo>
                  <a:pt x="7385908" y="6405596"/>
                </a:lnTo>
                <a:lnTo>
                  <a:pt x="0" y="640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76944" y="2147521"/>
            <a:ext cx="5535838" cy="5946700"/>
          </a:xfrm>
          <a:custGeom>
            <a:avLst/>
            <a:gdLst/>
            <a:ahLst/>
            <a:cxnLst/>
            <a:rect r="r" b="b" t="t" l="l"/>
            <a:pathLst>
              <a:path h="5946700" w="5535838">
                <a:moveTo>
                  <a:pt x="0" y="0"/>
                </a:moveTo>
                <a:lnTo>
                  <a:pt x="5535837" y="0"/>
                </a:lnTo>
                <a:lnTo>
                  <a:pt x="5535837" y="5946700"/>
                </a:lnTo>
                <a:lnTo>
                  <a:pt x="0" y="594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634991">
            <a:off x="3447934" y="2423257"/>
            <a:ext cx="2763540" cy="276354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898677">
            <a:off x="14119766" y="2335125"/>
            <a:ext cx="4531553" cy="5571493"/>
          </a:xfrm>
          <a:custGeom>
            <a:avLst/>
            <a:gdLst/>
            <a:ahLst/>
            <a:cxnLst/>
            <a:rect r="r" b="b" t="t" l="l"/>
            <a:pathLst>
              <a:path h="5571493" w="4531553">
                <a:moveTo>
                  <a:pt x="0" y="0"/>
                </a:moveTo>
                <a:lnTo>
                  <a:pt x="4531553" y="0"/>
                </a:lnTo>
                <a:lnTo>
                  <a:pt x="4531553" y="5571493"/>
                </a:lnTo>
                <a:lnTo>
                  <a:pt x="0" y="5571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87565">
            <a:off x="-876235" y="2441220"/>
            <a:ext cx="3385161" cy="5492148"/>
          </a:xfrm>
          <a:custGeom>
            <a:avLst/>
            <a:gdLst/>
            <a:ahLst/>
            <a:cxnLst/>
            <a:rect r="r" b="b" t="t" l="l"/>
            <a:pathLst>
              <a:path h="5492148" w="3385161">
                <a:moveTo>
                  <a:pt x="0" y="0"/>
                </a:moveTo>
                <a:lnTo>
                  <a:pt x="3385160" y="0"/>
                </a:lnTo>
                <a:lnTo>
                  <a:pt x="3385160" y="5492148"/>
                </a:lnTo>
                <a:lnTo>
                  <a:pt x="0" y="5492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88834" y="3505922"/>
            <a:ext cx="2281739" cy="60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4053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12,99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5518" y="625639"/>
            <a:ext cx="10930846" cy="12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b="true" sz="8611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PROBLEMAS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78577" y="8621608"/>
            <a:ext cx="10930846" cy="12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b="true" sz="8611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Y OBJETIVOS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21040" y="2905929"/>
            <a:ext cx="1717988" cy="4294971"/>
          </a:xfrm>
          <a:custGeom>
            <a:avLst/>
            <a:gdLst/>
            <a:ahLst/>
            <a:cxnLst/>
            <a:rect r="r" b="b" t="t" l="l"/>
            <a:pathLst>
              <a:path h="4294971" w="1717988">
                <a:moveTo>
                  <a:pt x="0" y="0"/>
                </a:moveTo>
                <a:lnTo>
                  <a:pt x="1717988" y="0"/>
                </a:lnTo>
                <a:lnTo>
                  <a:pt x="1717988" y="4294971"/>
                </a:lnTo>
                <a:lnTo>
                  <a:pt x="0" y="4294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2784" y="4376756"/>
            <a:ext cx="9062432" cy="13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6"/>
              </a:lnSpc>
            </a:pPr>
            <a:r>
              <a:rPr lang="en-US" b="true" sz="3654" spc="734">
                <a:solidFill>
                  <a:srgbClr val="000000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PROBLEMA 1</a:t>
            </a:r>
          </a:p>
          <a:p>
            <a:pPr algn="ctr">
              <a:lnSpc>
                <a:spcPts val="5116"/>
              </a:lnSpc>
            </a:pPr>
            <a:r>
              <a:rPr lang="en-US" b="true" sz="3654" spc="734">
                <a:solidFill>
                  <a:srgbClr val="000000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REGISTRAR VENTA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8348" y="19050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40644" y="528937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56005" y="19050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8300" y="528937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010246" y="19050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387950" y="528937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741177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2118881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37032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9327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12807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5103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88583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10878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20794" y="7180065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43090" y="7689952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58451" y="7180065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0747" y="7689952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507800" y="7180065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496" y="7689952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2238731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1616435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39478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61774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15253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37549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91029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13324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B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817">
            <a:off x="172168" y="119500"/>
            <a:ext cx="2498439" cy="24984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62785">
            <a:off x="15996933" y="-17500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5195" y="797935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63043">
            <a:off x="-547053" y="6155169"/>
            <a:ext cx="3151506" cy="7703682"/>
          </a:xfrm>
          <a:custGeom>
            <a:avLst/>
            <a:gdLst/>
            <a:ahLst/>
            <a:cxnLst/>
            <a:rect r="r" b="b" t="t" l="l"/>
            <a:pathLst>
              <a:path h="7703682" w="3151506">
                <a:moveTo>
                  <a:pt x="0" y="0"/>
                </a:moveTo>
                <a:lnTo>
                  <a:pt x="3151506" y="0"/>
                </a:lnTo>
                <a:lnTo>
                  <a:pt x="3151506" y="7703682"/>
                </a:lnTo>
                <a:lnTo>
                  <a:pt x="0" y="7703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815808">
            <a:off x="391079" y="1099087"/>
            <a:ext cx="2062857" cy="54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3664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18,99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04621" y="813238"/>
            <a:ext cx="10760557" cy="866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5"/>
              </a:lnSpc>
            </a:pPr>
            <a:r>
              <a:rPr lang="en-US" b="true" sz="5690">
                <a:solidFill>
                  <a:srgbClr val="272727"/>
                </a:solidFill>
                <a:latin typeface="TT Drugs Bold"/>
                <a:ea typeface="TT Drugs Bold"/>
                <a:cs typeface="TT Drugs Bold"/>
                <a:sym typeface="TT Drugs Bold"/>
              </a:rPr>
              <a:t>El problema principal que enfrenta la boutique es la falta de un sistema de gestión eficiente para las ventas y los pagos. Esto genera confusión y desorganización, tanto en el control de los productos como en el manejo de las transacciones.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5875" y="677720"/>
            <a:ext cx="1617287" cy="16172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35013" y="1028700"/>
            <a:ext cx="858276" cy="971300"/>
          </a:xfrm>
          <a:custGeom>
            <a:avLst/>
            <a:gdLst/>
            <a:ahLst/>
            <a:cxnLst/>
            <a:rect r="r" b="b" t="t" l="l"/>
            <a:pathLst>
              <a:path h="971300" w="858276">
                <a:moveTo>
                  <a:pt x="0" y="0"/>
                </a:moveTo>
                <a:lnTo>
                  <a:pt x="858276" y="0"/>
                </a:lnTo>
                <a:lnTo>
                  <a:pt x="858276" y="971300"/>
                </a:lnTo>
                <a:lnTo>
                  <a:pt x="0" y="97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4151" y="2582045"/>
            <a:ext cx="13559698" cy="518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6"/>
              </a:lnSpc>
            </a:pPr>
            <a:r>
              <a:rPr lang="en-US" b="true" sz="7378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La solución propuesta mediante la función registrar_venta aborda estos problemas de manera integral.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904443">
            <a:off x="-809383" y="4687275"/>
            <a:ext cx="2477489" cy="2148659"/>
          </a:xfrm>
          <a:custGeom>
            <a:avLst/>
            <a:gdLst/>
            <a:ahLst/>
            <a:cxnLst/>
            <a:rect r="r" b="b" t="t" l="l"/>
            <a:pathLst>
              <a:path h="2148659" w="2477489">
                <a:moveTo>
                  <a:pt x="0" y="0"/>
                </a:moveTo>
                <a:lnTo>
                  <a:pt x="2477489" y="0"/>
                </a:lnTo>
                <a:lnTo>
                  <a:pt x="2477489" y="2148659"/>
                </a:lnTo>
                <a:lnTo>
                  <a:pt x="0" y="21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67830">
            <a:off x="11778934" y="7001418"/>
            <a:ext cx="4045973" cy="4513763"/>
          </a:xfrm>
          <a:custGeom>
            <a:avLst/>
            <a:gdLst/>
            <a:ahLst/>
            <a:cxnLst/>
            <a:rect r="r" b="b" t="t" l="l"/>
            <a:pathLst>
              <a:path h="4513763" w="4045973">
                <a:moveTo>
                  <a:pt x="0" y="0"/>
                </a:moveTo>
                <a:lnTo>
                  <a:pt x="4045973" y="0"/>
                </a:lnTo>
                <a:lnTo>
                  <a:pt x="4045973" y="4513764"/>
                </a:lnTo>
                <a:lnTo>
                  <a:pt x="0" y="4513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89055" y="-2057400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96162" y="712112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27343" y="-1819793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778113" y="-94650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5870" y="7200900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5875" y="677720"/>
            <a:ext cx="1617287" cy="16172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35013" y="1028700"/>
            <a:ext cx="858276" cy="971300"/>
          </a:xfrm>
          <a:custGeom>
            <a:avLst/>
            <a:gdLst/>
            <a:ahLst/>
            <a:cxnLst/>
            <a:rect r="r" b="b" t="t" l="l"/>
            <a:pathLst>
              <a:path h="971300" w="858276">
                <a:moveTo>
                  <a:pt x="0" y="0"/>
                </a:moveTo>
                <a:lnTo>
                  <a:pt x="858276" y="0"/>
                </a:lnTo>
                <a:lnTo>
                  <a:pt x="858276" y="971300"/>
                </a:lnTo>
                <a:lnTo>
                  <a:pt x="0" y="97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4151" y="2067695"/>
            <a:ext cx="13559698" cy="620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6"/>
              </a:lnSpc>
            </a:pPr>
            <a:r>
              <a:rPr lang="en-US" b="true" sz="7378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Al verificar la existencia de los clientes y la disponibilidad de las prendas, la función asegura que solo se realicen ventas válidas.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904443">
            <a:off x="-809383" y="4687275"/>
            <a:ext cx="2477489" cy="2148659"/>
          </a:xfrm>
          <a:custGeom>
            <a:avLst/>
            <a:gdLst/>
            <a:ahLst/>
            <a:cxnLst/>
            <a:rect r="r" b="b" t="t" l="l"/>
            <a:pathLst>
              <a:path h="2148659" w="2477489">
                <a:moveTo>
                  <a:pt x="0" y="0"/>
                </a:moveTo>
                <a:lnTo>
                  <a:pt x="2477489" y="0"/>
                </a:lnTo>
                <a:lnTo>
                  <a:pt x="2477489" y="2148659"/>
                </a:lnTo>
                <a:lnTo>
                  <a:pt x="0" y="21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67830">
            <a:off x="11778934" y="7001418"/>
            <a:ext cx="4045973" cy="4513763"/>
          </a:xfrm>
          <a:custGeom>
            <a:avLst/>
            <a:gdLst/>
            <a:ahLst/>
            <a:cxnLst/>
            <a:rect r="r" b="b" t="t" l="l"/>
            <a:pathLst>
              <a:path h="4513763" w="4045973">
                <a:moveTo>
                  <a:pt x="0" y="0"/>
                </a:moveTo>
                <a:lnTo>
                  <a:pt x="4045973" y="0"/>
                </a:lnTo>
                <a:lnTo>
                  <a:pt x="4045973" y="4513764"/>
                </a:lnTo>
                <a:lnTo>
                  <a:pt x="0" y="4513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89055" y="-2057400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96162" y="712112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27343" y="-1819793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778113" y="-94650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5870" y="7200900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863" y="302253"/>
            <a:ext cx="1617287" cy="16172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6369" y="625246"/>
            <a:ext cx="858276" cy="971300"/>
          </a:xfrm>
          <a:custGeom>
            <a:avLst/>
            <a:gdLst/>
            <a:ahLst/>
            <a:cxnLst/>
            <a:rect r="r" b="b" t="t" l="l"/>
            <a:pathLst>
              <a:path h="971300" w="858276">
                <a:moveTo>
                  <a:pt x="0" y="0"/>
                </a:moveTo>
                <a:lnTo>
                  <a:pt x="858276" y="0"/>
                </a:lnTo>
                <a:lnTo>
                  <a:pt x="858276" y="971300"/>
                </a:lnTo>
                <a:lnTo>
                  <a:pt x="0" y="97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4151" y="1038995"/>
            <a:ext cx="13559698" cy="8266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6"/>
              </a:lnSpc>
            </a:pPr>
            <a:r>
              <a:rPr lang="en-US" b="true" sz="7378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Además, al automatizar el registro de ventas y pagos, se mejora la eficiencia y precisión en la gestión de las transacciones, lo que ayuda a la boutique a mantener un control adecuado de sus operaciones.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904443">
            <a:off x="-809383" y="4687275"/>
            <a:ext cx="2477489" cy="2148659"/>
          </a:xfrm>
          <a:custGeom>
            <a:avLst/>
            <a:gdLst/>
            <a:ahLst/>
            <a:cxnLst/>
            <a:rect r="r" b="b" t="t" l="l"/>
            <a:pathLst>
              <a:path h="2148659" w="2477489">
                <a:moveTo>
                  <a:pt x="0" y="0"/>
                </a:moveTo>
                <a:lnTo>
                  <a:pt x="2477489" y="0"/>
                </a:lnTo>
                <a:lnTo>
                  <a:pt x="2477489" y="2148659"/>
                </a:lnTo>
                <a:lnTo>
                  <a:pt x="0" y="21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67830">
            <a:off x="12276897" y="8030118"/>
            <a:ext cx="4045973" cy="4513763"/>
          </a:xfrm>
          <a:custGeom>
            <a:avLst/>
            <a:gdLst/>
            <a:ahLst/>
            <a:cxnLst/>
            <a:rect r="r" b="b" t="t" l="l"/>
            <a:pathLst>
              <a:path h="4513763" w="4045973">
                <a:moveTo>
                  <a:pt x="0" y="0"/>
                </a:moveTo>
                <a:lnTo>
                  <a:pt x="4045973" y="0"/>
                </a:lnTo>
                <a:lnTo>
                  <a:pt x="4045973" y="4513764"/>
                </a:lnTo>
                <a:lnTo>
                  <a:pt x="0" y="4513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95687" y="-3132955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96162" y="712112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527343" y="-1819793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778113" y="-94650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5870" y="7200900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6863" y="302253"/>
            <a:ext cx="1617287" cy="161728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6369" y="625246"/>
            <a:ext cx="858276" cy="971300"/>
          </a:xfrm>
          <a:custGeom>
            <a:avLst/>
            <a:gdLst/>
            <a:ahLst/>
            <a:cxnLst/>
            <a:rect r="r" b="b" t="t" l="l"/>
            <a:pathLst>
              <a:path h="971300" w="858276">
                <a:moveTo>
                  <a:pt x="0" y="0"/>
                </a:moveTo>
                <a:lnTo>
                  <a:pt x="858276" y="0"/>
                </a:lnTo>
                <a:lnTo>
                  <a:pt x="858276" y="971300"/>
                </a:lnTo>
                <a:lnTo>
                  <a:pt x="0" y="97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4151" y="1164408"/>
            <a:ext cx="13559698" cy="8005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b="true" sz="6378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Esta solución permite a Blanca Coral Torres Figueroa optimizar su proceso de ventas, reduciendo riesgos de errores y mejorando la satisfacción del cliente al garantizar que solo se vendan productos disponibles y se registren adecuadamente los pagos.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904443">
            <a:off x="-809383" y="4687275"/>
            <a:ext cx="2477489" cy="2148659"/>
          </a:xfrm>
          <a:custGeom>
            <a:avLst/>
            <a:gdLst/>
            <a:ahLst/>
            <a:cxnLst/>
            <a:rect r="r" b="b" t="t" l="l"/>
            <a:pathLst>
              <a:path h="2148659" w="2477489">
                <a:moveTo>
                  <a:pt x="0" y="0"/>
                </a:moveTo>
                <a:lnTo>
                  <a:pt x="2477489" y="0"/>
                </a:lnTo>
                <a:lnTo>
                  <a:pt x="2477489" y="2148659"/>
                </a:lnTo>
                <a:lnTo>
                  <a:pt x="0" y="21486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67830">
            <a:off x="15236313" y="6785210"/>
            <a:ext cx="4045973" cy="4513763"/>
          </a:xfrm>
          <a:custGeom>
            <a:avLst/>
            <a:gdLst/>
            <a:ahLst/>
            <a:cxnLst/>
            <a:rect r="r" b="b" t="t" l="l"/>
            <a:pathLst>
              <a:path h="4513763" w="4045973">
                <a:moveTo>
                  <a:pt x="0" y="0"/>
                </a:moveTo>
                <a:lnTo>
                  <a:pt x="4045974" y="0"/>
                </a:lnTo>
                <a:lnTo>
                  <a:pt x="4045974" y="4513763"/>
                </a:lnTo>
                <a:lnTo>
                  <a:pt x="0" y="451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527343" y="-1819793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778113" y="-946504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3" y="0"/>
                </a:lnTo>
                <a:lnTo>
                  <a:pt x="346391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76450" y="7247755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2976" y="1277682"/>
            <a:ext cx="15695364" cy="2063161"/>
            <a:chOff x="0" y="0"/>
            <a:chExt cx="20927152" cy="2750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27152" cy="2750881"/>
            </a:xfrm>
            <a:custGeom>
              <a:avLst/>
              <a:gdLst/>
              <a:ahLst/>
              <a:cxnLst/>
              <a:rect r="r" b="b" t="t" l="l"/>
              <a:pathLst>
                <a:path h="2750881" w="20927152">
                  <a:moveTo>
                    <a:pt x="0" y="0"/>
                  </a:moveTo>
                  <a:lnTo>
                    <a:pt x="20927152" y="0"/>
                  </a:lnTo>
                  <a:lnTo>
                    <a:pt x="20927152" y="2750881"/>
                  </a:lnTo>
                  <a:lnTo>
                    <a:pt x="0" y="2750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953" t="0" r="-3953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33911" y="658935"/>
              <a:ext cx="17017377" cy="130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223"/>
                </a:lnSpc>
                <a:spcBef>
                  <a:spcPct val="0"/>
                </a:spcBef>
              </a:pPr>
              <a:r>
                <a:rPr lang="en-US" b="true" sz="5874">
                  <a:solidFill>
                    <a:srgbClr val="000000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Funcionamiento y demostración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27820" y="1028700"/>
            <a:ext cx="3941040" cy="3955423"/>
          </a:xfrm>
          <a:custGeom>
            <a:avLst/>
            <a:gdLst/>
            <a:ahLst/>
            <a:cxnLst/>
            <a:rect r="r" b="b" t="t" l="l"/>
            <a:pathLst>
              <a:path h="3955423" w="3941040">
                <a:moveTo>
                  <a:pt x="0" y="0"/>
                </a:moveTo>
                <a:lnTo>
                  <a:pt x="3941040" y="0"/>
                </a:lnTo>
                <a:lnTo>
                  <a:pt x="3941040" y="3955423"/>
                </a:lnTo>
                <a:lnTo>
                  <a:pt x="0" y="395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-726024">
            <a:off x="746829" y="4988044"/>
            <a:ext cx="5407202" cy="4785374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633807">
            <a:off x="8497633" y="4617499"/>
            <a:ext cx="4025023" cy="4114800"/>
          </a:xfrm>
          <a:custGeom>
            <a:avLst/>
            <a:gdLst/>
            <a:ahLst/>
            <a:cxnLst/>
            <a:rect r="r" b="b" t="t" l="l"/>
            <a:pathLst>
              <a:path h="4114800" w="4025023">
                <a:moveTo>
                  <a:pt x="0" y="0"/>
                </a:moveTo>
                <a:lnTo>
                  <a:pt x="4025023" y="0"/>
                </a:lnTo>
                <a:lnTo>
                  <a:pt x="4025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40600">
            <a:off x="14154347" y="7081205"/>
            <a:ext cx="3477902" cy="4930016"/>
          </a:xfrm>
          <a:custGeom>
            <a:avLst/>
            <a:gdLst/>
            <a:ahLst/>
            <a:cxnLst/>
            <a:rect r="r" b="b" t="t" l="l"/>
            <a:pathLst>
              <a:path h="4930016" w="3477902">
                <a:moveTo>
                  <a:pt x="0" y="0"/>
                </a:moveTo>
                <a:lnTo>
                  <a:pt x="3477902" y="0"/>
                </a:lnTo>
                <a:lnTo>
                  <a:pt x="3477902" y="4930016"/>
                </a:lnTo>
                <a:lnTo>
                  <a:pt x="0" y="49300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21040" y="2905929"/>
            <a:ext cx="1717988" cy="4294971"/>
          </a:xfrm>
          <a:custGeom>
            <a:avLst/>
            <a:gdLst/>
            <a:ahLst/>
            <a:cxnLst/>
            <a:rect r="r" b="b" t="t" l="l"/>
            <a:pathLst>
              <a:path h="4294971" w="1717988">
                <a:moveTo>
                  <a:pt x="0" y="0"/>
                </a:moveTo>
                <a:lnTo>
                  <a:pt x="1717988" y="0"/>
                </a:lnTo>
                <a:lnTo>
                  <a:pt x="1717988" y="4294971"/>
                </a:lnTo>
                <a:lnTo>
                  <a:pt x="0" y="42949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02282" y="4445951"/>
            <a:ext cx="11083435" cy="136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6"/>
              </a:lnSpc>
            </a:pPr>
            <a:r>
              <a:rPr lang="en-US" b="true" sz="3654" spc="734">
                <a:solidFill>
                  <a:srgbClr val="000000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PROBLEMA 2</a:t>
            </a:r>
          </a:p>
          <a:p>
            <a:pPr algn="ctr">
              <a:lnSpc>
                <a:spcPts val="5116"/>
              </a:lnSpc>
            </a:pPr>
            <a:r>
              <a:rPr lang="en-US" b="true" sz="3654" spc="734">
                <a:solidFill>
                  <a:srgbClr val="000000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DESCONTAR DISPONIBILIDAD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8348" y="19050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40644" y="528937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56005" y="19050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8300" y="528937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010246" y="19050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387950" y="528937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741177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2118881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37032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9327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12807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5103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88583" y="1746658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10878" y="2256545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20794" y="7180065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43090" y="7689952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58451" y="7180065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0747" y="7689952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507800" y="7180065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496" y="7689952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2238731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1616435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39478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61774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15253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37549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91029" y="8907673"/>
            <a:ext cx="5999550" cy="73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06"/>
              </a:lnSpc>
            </a:pPr>
            <a:r>
              <a:rPr lang="en-US" b="true" sz="4950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BORCELLE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13324" y="9417560"/>
            <a:ext cx="5261116" cy="874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13"/>
              </a:lnSpc>
            </a:pPr>
            <a:r>
              <a:rPr lang="en-US" b="true" sz="5877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 VINTAGE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7D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57480" y="349451"/>
            <a:ext cx="2652899" cy="5101729"/>
          </a:xfrm>
          <a:custGeom>
            <a:avLst/>
            <a:gdLst/>
            <a:ahLst/>
            <a:cxnLst/>
            <a:rect r="r" b="b" t="t" l="l"/>
            <a:pathLst>
              <a:path h="5101729" w="2652899">
                <a:moveTo>
                  <a:pt x="0" y="0"/>
                </a:moveTo>
                <a:lnTo>
                  <a:pt x="2652899" y="0"/>
                </a:lnTo>
                <a:lnTo>
                  <a:pt x="2652899" y="5101729"/>
                </a:lnTo>
                <a:lnTo>
                  <a:pt x="0" y="5101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69161">
            <a:off x="13537982" y="7659366"/>
            <a:ext cx="3596446" cy="3690383"/>
          </a:xfrm>
          <a:custGeom>
            <a:avLst/>
            <a:gdLst/>
            <a:ahLst/>
            <a:cxnLst/>
            <a:rect r="r" b="b" t="t" l="l"/>
            <a:pathLst>
              <a:path h="3690383" w="3596446">
                <a:moveTo>
                  <a:pt x="0" y="0"/>
                </a:moveTo>
                <a:lnTo>
                  <a:pt x="3596446" y="0"/>
                </a:lnTo>
                <a:lnTo>
                  <a:pt x="3596446" y="3690383"/>
                </a:lnTo>
                <a:lnTo>
                  <a:pt x="0" y="3690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83929" y="1268244"/>
            <a:ext cx="3633166" cy="5894516"/>
          </a:xfrm>
          <a:custGeom>
            <a:avLst/>
            <a:gdLst/>
            <a:ahLst/>
            <a:cxnLst/>
            <a:rect r="r" b="b" t="t" l="l"/>
            <a:pathLst>
              <a:path h="5894516" w="3633166">
                <a:moveTo>
                  <a:pt x="0" y="0"/>
                </a:moveTo>
                <a:lnTo>
                  <a:pt x="3633166" y="0"/>
                </a:lnTo>
                <a:lnTo>
                  <a:pt x="3633166" y="5894516"/>
                </a:lnTo>
                <a:lnTo>
                  <a:pt x="0" y="5894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8674" y="6082369"/>
            <a:ext cx="3633166" cy="5894516"/>
          </a:xfrm>
          <a:custGeom>
            <a:avLst/>
            <a:gdLst/>
            <a:ahLst/>
            <a:cxnLst/>
            <a:rect r="r" b="b" t="t" l="l"/>
            <a:pathLst>
              <a:path h="5894516" w="3633166">
                <a:moveTo>
                  <a:pt x="0" y="0"/>
                </a:moveTo>
                <a:lnTo>
                  <a:pt x="3633166" y="0"/>
                </a:lnTo>
                <a:lnTo>
                  <a:pt x="3633166" y="5894516"/>
                </a:lnTo>
                <a:lnTo>
                  <a:pt x="0" y="5894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15038"/>
            <a:ext cx="12534552" cy="921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7"/>
              </a:lnSpc>
            </a:pPr>
            <a:r>
              <a:rPr lang="en-US" sz="5090" b="true">
                <a:solidFill>
                  <a:srgbClr val="272727"/>
                </a:solidFill>
                <a:latin typeface="TT Drugs Bold"/>
                <a:ea typeface="TT Drugs Bold"/>
                <a:cs typeface="TT Drugs Bold"/>
                <a:sym typeface="TT Drugs Bold"/>
              </a:rPr>
              <a:t>La boutique de Blanca enfrenta desafíos relacionados con la gestión del inventario de prendas y la posibilidad de cometer errores al descontar la disponibilidad después de una compra. Sin un procedimiento adecuado para validar y actualizar el inventario de manera precisa, los clientes podrían comprar productos fuera de stock, lo que afectaría la fiabilidad y eficiencia del negocio.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B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817">
            <a:off x="172168" y="119500"/>
            <a:ext cx="2498439" cy="24984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62785">
            <a:off x="15996933" y="-17500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5195" y="797935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63043">
            <a:off x="-547053" y="6155169"/>
            <a:ext cx="3151506" cy="7703682"/>
          </a:xfrm>
          <a:custGeom>
            <a:avLst/>
            <a:gdLst/>
            <a:ahLst/>
            <a:cxnLst/>
            <a:rect r="r" b="b" t="t" l="l"/>
            <a:pathLst>
              <a:path h="7703682" w="3151506">
                <a:moveTo>
                  <a:pt x="0" y="0"/>
                </a:moveTo>
                <a:lnTo>
                  <a:pt x="3151506" y="0"/>
                </a:lnTo>
                <a:lnTo>
                  <a:pt x="3151506" y="7703682"/>
                </a:lnTo>
                <a:lnTo>
                  <a:pt x="0" y="7703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815808">
            <a:off x="391079" y="1099087"/>
            <a:ext cx="2062857" cy="54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3664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18,99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04621" y="2980176"/>
            <a:ext cx="10760557" cy="432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5"/>
              </a:lnSpc>
            </a:pPr>
            <a:r>
              <a:rPr lang="en-US" b="true" sz="5690">
                <a:solidFill>
                  <a:srgbClr val="272727"/>
                </a:solidFill>
                <a:latin typeface="TT Drugs Bold"/>
                <a:ea typeface="TT Drugs Bold"/>
                <a:cs typeface="TT Drugs Bold"/>
                <a:sym typeface="TT Drugs Bold"/>
              </a:rPr>
              <a:t>La solución proporcionada por el procedimiento descontar_disponibilidad_prenda resuelve estos problemas de manera automatizada. 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B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817">
            <a:off x="172168" y="119500"/>
            <a:ext cx="2498439" cy="24984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62785">
            <a:off x="15996933" y="-17500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5195" y="797935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63043">
            <a:off x="-547053" y="6155169"/>
            <a:ext cx="3151506" cy="7703682"/>
          </a:xfrm>
          <a:custGeom>
            <a:avLst/>
            <a:gdLst/>
            <a:ahLst/>
            <a:cxnLst/>
            <a:rect r="r" b="b" t="t" l="l"/>
            <a:pathLst>
              <a:path h="7703682" w="3151506">
                <a:moveTo>
                  <a:pt x="0" y="0"/>
                </a:moveTo>
                <a:lnTo>
                  <a:pt x="3151506" y="0"/>
                </a:lnTo>
                <a:lnTo>
                  <a:pt x="3151506" y="7703682"/>
                </a:lnTo>
                <a:lnTo>
                  <a:pt x="0" y="7703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815808">
            <a:off x="391079" y="1099087"/>
            <a:ext cx="2062857" cy="54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3664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18,99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04621" y="1680013"/>
            <a:ext cx="10760557" cy="692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5"/>
              </a:lnSpc>
            </a:pPr>
            <a:r>
              <a:rPr lang="en-US" b="true" sz="5690">
                <a:solidFill>
                  <a:srgbClr val="272727"/>
                </a:solidFill>
                <a:latin typeface="TT Drugs Bold"/>
                <a:ea typeface="TT Drugs Bold"/>
                <a:cs typeface="TT Drugs Bold"/>
                <a:sym typeface="TT Drugs Bold"/>
              </a:rPr>
              <a:t>Verificando la existencia de la prenda y la disponibilidad de stock antes de realizar cualquier cambio, el procedimiento asegura que solo se puedan vender las prendas que estén realmente disponibles. </a:t>
            </a:r>
          </a:p>
        </p:txBody>
      </p: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B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817">
            <a:off x="172168" y="119500"/>
            <a:ext cx="2498439" cy="24984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62785">
            <a:off x="15996933" y="-17500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5195" y="797935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63043">
            <a:off x="-547053" y="6155169"/>
            <a:ext cx="3151506" cy="7703682"/>
          </a:xfrm>
          <a:custGeom>
            <a:avLst/>
            <a:gdLst/>
            <a:ahLst/>
            <a:cxnLst/>
            <a:rect r="r" b="b" t="t" l="l"/>
            <a:pathLst>
              <a:path h="7703682" w="3151506">
                <a:moveTo>
                  <a:pt x="0" y="0"/>
                </a:moveTo>
                <a:lnTo>
                  <a:pt x="3151506" y="0"/>
                </a:lnTo>
                <a:lnTo>
                  <a:pt x="3151506" y="7703682"/>
                </a:lnTo>
                <a:lnTo>
                  <a:pt x="0" y="7703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815808">
            <a:off x="391079" y="1099087"/>
            <a:ext cx="2062857" cy="54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3664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18,99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04621" y="1246626"/>
            <a:ext cx="10760557" cy="779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5"/>
              </a:lnSpc>
            </a:pPr>
            <a:r>
              <a:rPr lang="en-US" b="true" sz="5690">
                <a:solidFill>
                  <a:srgbClr val="272727"/>
                </a:solidFill>
                <a:latin typeface="TT Drugs Bold"/>
                <a:ea typeface="TT Drugs Bold"/>
                <a:cs typeface="TT Drugs Bold"/>
                <a:sym typeface="TT Drugs Bold"/>
              </a:rPr>
              <a:t>Esto no solo optimiza la gestión del inventario, sino que también mejora la experiencia del cliente, garantizando que el sistema esté siempre actualizado y libre de errores relacionados con la disponibilidad de productos.</a:t>
            </a:r>
          </a:p>
        </p:txBody>
      </p:sp>
    </p:spTree>
  </p:cSld>
  <p:clrMapOvr>
    <a:masterClrMapping/>
  </p:clrMapOvr>
  <p:transition spd="slow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B1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0817">
            <a:off x="172168" y="119500"/>
            <a:ext cx="2498439" cy="24984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62785">
            <a:off x="15996933" y="-17500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95195" y="7979350"/>
            <a:ext cx="3346757" cy="4114800"/>
          </a:xfrm>
          <a:custGeom>
            <a:avLst/>
            <a:gdLst/>
            <a:ahLst/>
            <a:cxnLst/>
            <a:rect r="r" b="b" t="t" l="l"/>
            <a:pathLst>
              <a:path h="4114800" w="3346757">
                <a:moveTo>
                  <a:pt x="0" y="0"/>
                </a:moveTo>
                <a:lnTo>
                  <a:pt x="3346757" y="0"/>
                </a:lnTo>
                <a:lnTo>
                  <a:pt x="33467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63043">
            <a:off x="-547053" y="6155169"/>
            <a:ext cx="3151506" cy="7703682"/>
          </a:xfrm>
          <a:custGeom>
            <a:avLst/>
            <a:gdLst/>
            <a:ahLst/>
            <a:cxnLst/>
            <a:rect r="r" b="b" t="t" l="l"/>
            <a:pathLst>
              <a:path h="7703682" w="3151506">
                <a:moveTo>
                  <a:pt x="0" y="0"/>
                </a:moveTo>
                <a:lnTo>
                  <a:pt x="3151506" y="0"/>
                </a:lnTo>
                <a:lnTo>
                  <a:pt x="3151506" y="7703682"/>
                </a:lnTo>
                <a:lnTo>
                  <a:pt x="0" y="7703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815808">
            <a:off x="391079" y="1099087"/>
            <a:ext cx="2062857" cy="54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b="true" sz="3664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18,99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04621" y="813238"/>
            <a:ext cx="10760557" cy="8660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85"/>
              </a:lnSpc>
            </a:pPr>
            <a:r>
              <a:rPr lang="en-US" b="true" sz="5690">
                <a:solidFill>
                  <a:srgbClr val="272727"/>
                </a:solidFill>
                <a:latin typeface="TT Drugs Bold"/>
                <a:ea typeface="TT Drugs Bold"/>
                <a:cs typeface="TT Drugs Bold"/>
                <a:sym typeface="TT Drugs Bold"/>
              </a:rPr>
              <a:t>Con esta implementación, Blanca  puede asegurarse de que su inventario se mantenga preciso y que los clientes no enfrenten inconvenientes al realizar compras, evitando situaciones de falta de stock y desorganización en el proceso de venta.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2976" y="1277682"/>
            <a:ext cx="15695364" cy="2063161"/>
            <a:chOff x="0" y="0"/>
            <a:chExt cx="20927152" cy="2750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27152" cy="2750881"/>
            </a:xfrm>
            <a:custGeom>
              <a:avLst/>
              <a:gdLst/>
              <a:ahLst/>
              <a:cxnLst/>
              <a:rect r="r" b="b" t="t" l="l"/>
              <a:pathLst>
                <a:path h="2750881" w="20927152">
                  <a:moveTo>
                    <a:pt x="0" y="0"/>
                  </a:moveTo>
                  <a:lnTo>
                    <a:pt x="20927152" y="0"/>
                  </a:lnTo>
                  <a:lnTo>
                    <a:pt x="20927152" y="2750881"/>
                  </a:lnTo>
                  <a:lnTo>
                    <a:pt x="0" y="2750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3953" t="0" r="-3953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833911" y="658935"/>
              <a:ext cx="17017377" cy="1309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223"/>
                </a:lnSpc>
                <a:spcBef>
                  <a:spcPct val="0"/>
                </a:spcBef>
              </a:pPr>
              <a:r>
                <a:rPr lang="en-US" b="true" sz="5874">
                  <a:solidFill>
                    <a:srgbClr val="000000"/>
                  </a:solidFill>
                  <a:latin typeface="TT Drugs Bold"/>
                  <a:ea typeface="TT Drugs Bold"/>
                  <a:cs typeface="TT Drugs Bold"/>
                  <a:sym typeface="TT Drugs Bold"/>
                </a:rPr>
                <a:t>Funcionamiento y demostración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27820" y="1028700"/>
            <a:ext cx="3941040" cy="3955423"/>
          </a:xfrm>
          <a:custGeom>
            <a:avLst/>
            <a:gdLst/>
            <a:ahLst/>
            <a:cxnLst/>
            <a:rect r="r" b="b" t="t" l="l"/>
            <a:pathLst>
              <a:path h="3955423" w="3941040">
                <a:moveTo>
                  <a:pt x="0" y="0"/>
                </a:moveTo>
                <a:lnTo>
                  <a:pt x="3941040" y="0"/>
                </a:lnTo>
                <a:lnTo>
                  <a:pt x="3941040" y="3955423"/>
                </a:lnTo>
                <a:lnTo>
                  <a:pt x="0" y="395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-726024">
            <a:off x="746829" y="4988044"/>
            <a:ext cx="5407202" cy="4785374"/>
          </a:xfrm>
          <a:prstGeom prst="rect">
            <a:avLst/>
          </a:prstGeom>
        </p:spPr>
      </p:pic>
      <p:sp>
        <p:nvSpPr>
          <p:cNvPr name="Freeform 7" id="7"/>
          <p:cNvSpPr/>
          <p:nvPr/>
        </p:nvSpPr>
        <p:spPr>
          <a:xfrm flipH="false" flipV="false" rot="633807">
            <a:off x="8497633" y="4617499"/>
            <a:ext cx="4025023" cy="4114800"/>
          </a:xfrm>
          <a:custGeom>
            <a:avLst/>
            <a:gdLst/>
            <a:ahLst/>
            <a:cxnLst/>
            <a:rect r="r" b="b" t="t" l="l"/>
            <a:pathLst>
              <a:path h="4114800" w="4025023">
                <a:moveTo>
                  <a:pt x="0" y="0"/>
                </a:moveTo>
                <a:lnTo>
                  <a:pt x="4025023" y="0"/>
                </a:lnTo>
                <a:lnTo>
                  <a:pt x="4025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40600">
            <a:off x="14154347" y="7081205"/>
            <a:ext cx="3477902" cy="4930016"/>
          </a:xfrm>
          <a:custGeom>
            <a:avLst/>
            <a:gdLst/>
            <a:ahLst/>
            <a:cxnLst/>
            <a:rect r="r" b="b" t="t" l="l"/>
            <a:pathLst>
              <a:path h="4930016" w="3477902">
                <a:moveTo>
                  <a:pt x="0" y="0"/>
                </a:moveTo>
                <a:lnTo>
                  <a:pt x="3477902" y="0"/>
                </a:lnTo>
                <a:lnTo>
                  <a:pt x="3477902" y="4930016"/>
                </a:lnTo>
                <a:lnTo>
                  <a:pt x="0" y="49300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E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6455" y="1918073"/>
            <a:ext cx="7385908" cy="6405596"/>
          </a:xfrm>
          <a:custGeom>
            <a:avLst/>
            <a:gdLst/>
            <a:ahLst/>
            <a:cxnLst/>
            <a:rect r="r" b="b" t="t" l="l"/>
            <a:pathLst>
              <a:path h="6405596" w="7385908">
                <a:moveTo>
                  <a:pt x="0" y="0"/>
                </a:moveTo>
                <a:lnTo>
                  <a:pt x="7385908" y="0"/>
                </a:lnTo>
                <a:lnTo>
                  <a:pt x="7385908" y="6405596"/>
                </a:lnTo>
                <a:lnTo>
                  <a:pt x="0" y="640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76944" y="2147521"/>
            <a:ext cx="5535838" cy="5946700"/>
          </a:xfrm>
          <a:custGeom>
            <a:avLst/>
            <a:gdLst/>
            <a:ahLst/>
            <a:cxnLst/>
            <a:rect r="r" b="b" t="t" l="l"/>
            <a:pathLst>
              <a:path h="5946700" w="5535838">
                <a:moveTo>
                  <a:pt x="0" y="0"/>
                </a:moveTo>
                <a:lnTo>
                  <a:pt x="5535837" y="0"/>
                </a:lnTo>
                <a:lnTo>
                  <a:pt x="5535837" y="5946700"/>
                </a:lnTo>
                <a:lnTo>
                  <a:pt x="0" y="594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634991">
            <a:off x="3447934" y="2423257"/>
            <a:ext cx="2763540" cy="276354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45826" y="33348"/>
                  </a:lnTo>
                  <a:lnTo>
                    <a:pt x="491360" y="8881"/>
                  </a:lnTo>
                  <a:lnTo>
                    <a:pt x="522953" y="49652"/>
                  </a:lnTo>
                  <a:lnTo>
                    <a:pt x="572609" y="35135"/>
                  </a:lnTo>
                  <a:lnTo>
                    <a:pt x="594986" y="81548"/>
                  </a:lnTo>
                  <a:lnTo>
                    <a:pt x="646591" y="77616"/>
                  </a:lnTo>
                  <a:lnTo>
                    <a:pt x="658778" y="127641"/>
                  </a:lnTo>
                  <a:lnTo>
                    <a:pt x="710077" y="134465"/>
                  </a:lnTo>
                  <a:lnTo>
                    <a:pt x="711539" y="185918"/>
                  </a:lnTo>
                  <a:lnTo>
                    <a:pt x="760292" y="203200"/>
                  </a:lnTo>
                  <a:lnTo>
                    <a:pt x="750965" y="253830"/>
                  </a:lnTo>
                  <a:lnTo>
                    <a:pt x="795038" y="280816"/>
                  </a:lnTo>
                  <a:lnTo>
                    <a:pt x="775331" y="328411"/>
                  </a:lnTo>
                  <a:lnTo>
                    <a:pt x="812800" y="363920"/>
                  </a:lnTo>
                  <a:lnTo>
                    <a:pt x="783573" y="406400"/>
                  </a:lnTo>
                  <a:lnTo>
                    <a:pt x="812800" y="448880"/>
                  </a:lnTo>
                  <a:lnTo>
                    <a:pt x="775331" y="484389"/>
                  </a:lnTo>
                  <a:lnTo>
                    <a:pt x="795038" y="531984"/>
                  </a:lnTo>
                  <a:lnTo>
                    <a:pt x="750965" y="558970"/>
                  </a:lnTo>
                  <a:lnTo>
                    <a:pt x="760292" y="609600"/>
                  </a:lnTo>
                  <a:lnTo>
                    <a:pt x="711539" y="626882"/>
                  </a:lnTo>
                  <a:lnTo>
                    <a:pt x="710077" y="678335"/>
                  </a:lnTo>
                  <a:lnTo>
                    <a:pt x="658778" y="685159"/>
                  </a:lnTo>
                  <a:lnTo>
                    <a:pt x="646591" y="735184"/>
                  </a:lnTo>
                  <a:lnTo>
                    <a:pt x="594986" y="731252"/>
                  </a:lnTo>
                  <a:lnTo>
                    <a:pt x="572609" y="777665"/>
                  </a:lnTo>
                  <a:lnTo>
                    <a:pt x="522953" y="763148"/>
                  </a:lnTo>
                  <a:lnTo>
                    <a:pt x="491360" y="803919"/>
                  </a:lnTo>
                  <a:lnTo>
                    <a:pt x="445826" y="779452"/>
                  </a:lnTo>
                  <a:lnTo>
                    <a:pt x="406400" y="812800"/>
                  </a:lnTo>
                  <a:lnTo>
                    <a:pt x="366974" y="779452"/>
                  </a:lnTo>
                  <a:lnTo>
                    <a:pt x="321440" y="803919"/>
                  </a:lnTo>
                  <a:lnTo>
                    <a:pt x="289847" y="763148"/>
                  </a:lnTo>
                  <a:lnTo>
                    <a:pt x="240191" y="777665"/>
                  </a:lnTo>
                  <a:lnTo>
                    <a:pt x="217814" y="731252"/>
                  </a:lnTo>
                  <a:lnTo>
                    <a:pt x="166209" y="735184"/>
                  </a:lnTo>
                  <a:lnTo>
                    <a:pt x="154022" y="685159"/>
                  </a:lnTo>
                  <a:lnTo>
                    <a:pt x="102722" y="678335"/>
                  </a:lnTo>
                  <a:lnTo>
                    <a:pt x="101260" y="626882"/>
                  </a:lnTo>
                  <a:lnTo>
                    <a:pt x="52509" y="609600"/>
                  </a:lnTo>
                  <a:lnTo>
                    <a:pt x="61835" y="558970"/>
                  </a:lnTo>
                  <a:lnTo>
                    <a:pt x="17762" y="531984"/>
                  </a:lnTo>
                  <a:lnTo>
                    <a:pt x="37469" y="484389"/>
                  </a:lnTo>
                  <a:lnTo>
                    <a:pt x="0" y="448880"/>
                  </a:lnTo>
                  <a:lnTo>
                    <a:pt x="29227" y="406400"/>
                  </a:lnTo>
                  <a:lnTo>
                    <a:pt x="0" y="363920"/>
                  </a:lnTo>
                  <a:lnTo>
                    <a:pt x="37469" y="328411"/>
                  </a:lnTo>
                  <a:lnTo>
                    <a:pt x="17762" y="280816"/>
                  </a:lnTo>
                  <a:lnTo>
                    <a:pt x="61835" y="253830"/>
                  </a:lnTo>
                  <a:lnTo>
                    <a:pt x="52509" y="203200"/>
                  </a:lnTo>
                  <a:lnTo>
                    <a:pt x="101260" y="185918"/>
                  </a:lnTo>
                  <a:lnTo>
                    <a:pt x="102722" y="134465"/>
                  </a:lnTo>
                  <a:lnTo>
                    <a:pt x="154022" y="127641"/>
                  </a:lnTo>
                  <a:lnTo>
                    <a:pt x="166209" y="77616"/>
                  </a:lnTo>
                  <a:lnTo>
                    <a:pt x="217814" y="81548"/>
                  </a:lnTo>
                  <a:lnTo>
                    <a:pt x="240191" y="35135"/>
                  </a:lnTo>
                  <a:lnTo>
                    <a:pt x="289847" y="49652"/>
                  </a:lnTo>
                  <a:lnTo>
                    <a:pt x="321440" y="8881"/>
                  </a:lnTo>
                  <a:lnTo>
                    <a:pt x="366974" y="33348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8B1D3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52400" y="57150"/>
              <a:ext cx="508000" cy="603250"/>
            </a:xfrm>
            <a:prstGeom prst="rect">
              <a:avLst/>
            </a:prstGeom>
          </p:spPr>
          <p:txBody>
            <a:bodyPr anchor="ctr" rtlCol="false" tIns="56055" lIns="56055" bIns="56055" rIns="56055"/>
            <a:lstStyle/>
            <a:p>
              <a:pPr algn="ctr" marL="0" indent="0" lvl="0">
                <a:lnSpc>
                  <a:spcPts val="367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898677">
            <a:off x="14119766" y="2335125"/>
            <a:ext cx="4531553" cy="5571493"/>
          </a:xfrm>
          <a:custGeom>
            <a:avLst/>
            <a:gdLst/>
            <a:ahLst/>
            <a:cxnLst/>
            <a:rect r="r" b="b" t="t" l="l"/>
            <a:pathLst>
              <a:path h="5571493" w="4531553">
                <a:moveTo>
                  <a:pt x="0" y="0"/>
                </a:moveTo>
                <a:lnTo>
                  <a:pt x="4531553" y="0"/>
                </a:lnTo>
                <a:lnTo>
                  <a:pt x="4531553" y="5571493"/>
                </a:lnTo>
                <a:lnTo>
                  <a:pt x="0" y="55714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87565">
            <a:off x="-876235" y="2441220"/>
            <a:ext cx="3385161" cy="5492148"/>
          </a:xfrm>
          <a:custGeom>
            <a:avLst/>
            <a:gdLst/>
            <a:ahLst/>
            <a:cxnLst/>
            <a:rect r="r" b="b" t="t" l="l"/>
            <a:pathLst>
              <a:path h="5492148" w="3385161">
                <a:moveTo>
                  <a:pt x="0" y="0"/>
                </a:moveTo>
                <a:lnTo>
                  <a:pt x="3385160" y="0"/>
                </a:lnTo>
                <a:lnTo>
                  <a:pt x="3385160" y="5492148"/>
                </a:lnTo>
                <a:lnTo>
                  <a:pt x="0" y="54921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88834" y="3505922"/>
            <a:ext cx="2281739" cy="607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b="true" sz="4053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12,99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5518" y="625639"/>
            <a:ext cx="10930846" cy="12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b="true" sz="8611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GRACIAS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9288" y="8692832"/>
            <a:ext cx="14609423" cy="129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8"/>
              </a:lnSpc>
            </a:pPr>
            <a:r>
              <a:rPr lang="en-US" b="true" sz="8611" u="sng">
                <a:solidFill>
                  <a:srgbClr val="000000"/>
                </a:solidFill>
                <a:latin typeface="Agrandir Grand Ultra-Bold"/>
                <a:ea typeface="Agrandir Grand Ultra-Bold"/>
                <a:cs typeface="Agrandir Grand Ultra-Bold"/>
                <a:sym typeface="Agrandir Grand Ultra-Bold"/>
              </a:rPr>
              <a:t>POR SU ATENCIÓN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DAGY0oj1pLY</dc:identifier>
  <dcterms:modified xsi:type="dcterms:W3CDTF">2011-08-01T06:04:30Z</dcterms:modified>
  <cp:revision>1</cp:revision>
  <dc:title>Presentacion tienda de ropa sostenible moderno ilustrativo azul rosa blanco negro</dc:title>
</cp:coreProperties>
</file>